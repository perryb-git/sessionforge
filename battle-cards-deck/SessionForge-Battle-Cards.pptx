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5092750"/>
            <a:ext cx="9042499" cy="507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84084" y="253901"/>
            <a:ext cx="8551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SessionForge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84084" y="387251"/>
            <a:ext cx="8551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81673" y="1005632"/>
            <a:ext cx="2380357" cy="272951"/>
          </a:xfrm>
          <a:prstGeom prst="roundRect">
            <a:avLst>
              <a:gd name="adj" fmla="val 93057"/>
            </a:avLst>
          </a:prstGeom>
          <a:solidFill>
            <a:srgbClr val="7C3AED">
              <a:alpha val="13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74798" y="1065907"/>
            <a:ext cx="1994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INTELLIGENCE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94628" y="1532483"/>
            <a:ext cx="4554596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SessionForge
</a:t>
            </a:r>
            <a:pPr algn="ctr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Cards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90851" y="2858244"/>
            <a:ext cx="7620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94628" y="3277344"/>
            <a:ext cx="45545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 Across 31 Products in 8 Categories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94628" y="3867894"/>
            <a:ext cx="45545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 · </a:t>
            </a:r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1627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22102"/>
            <a:ext cx="91440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77701"/>
            <a:ext cx="16511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Positioning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61833" y="201513"/>
            <a:ext cx="1026616" cy="209550"/>
          </a:xfrm>
          <a:prstGeom prst="roundRect">
            <a:avLst>
              <a:gd name="adj" fmla="val 7272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14233" y="239613"/>
            <a:ext cx="7362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5550" y="885527"/>
            <a:ext cx="43698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MESSAGE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5550" y="1126778"/>
            <a:ext cx="4284166" cy="1288852"/>
          </a:xfrm>
          <a:prstGeom prst="roundRect">
            <a:avLst>
              <a:gd name="adj" fmla="val 788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5550" y="1131540"/>
            <a:ext cx="4284166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4954" y="1126778"/>
            <a:ext cx="0" cy="128885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5550" y="2410867"/>
            <a:ext cx="4284166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363" y="1126778"/>
            <a:ext cx="0" cy="1288852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326" y="1314004"/>
            <a:ext cx="38971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only browser-based fleet management dashboard purpose-built for Claude Code — monitor, control, and manage AI coding sessions across all your remote machines from one place."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550" y="2618780"/>
            <a:ext cx="4284166" cy="742950"/>
          </a:xfrm>
          <a:prstGeom prst="roundRect">
            <a:avLst>
              <a:gd name="adj" fmla="val 13675"/>
            </a:avLst>
          </a:prstGeom>
          <a:solidFill>
            <a:srgbClr val="06B6D4">
              <a:alpha val="13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780705"/>
            <a:ext cx="393599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i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"Like Datadog Fleet Automation, but for your AI coding agents instead of your monitoring agents."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5550" y="3539430"/>
            <a:ext cx="2078534" cy="739676"/>
          </a:xfrm>
          <a:prstGeom prst="roundRect">
            <a:avLst>
              <a:gd name="adj" fmla="val 10302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0213" y="3666381"/>
            <a:ext cx="180920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$3.9B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0213" y="3904506"/>
            <a:ext cx="18092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Desktop Market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0213" y="4018806"/>
            <a:ext cx="18092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$14.7B by 2034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1034" y="3539430"/>
            <a:ext cx="2078682" cy="739676"/>
          </a:xfrm>
          <a:prstGeom prst="roundRect">
            <a:avLst>
              <a:gd name="adj" fmla="val 10302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95696" y="3666381"/>
            <a:ext cx="18093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5696" y="3904506"/>
            <a:ext cx="1809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 Tools Market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5696" y="4018806"/>
            <a:ext cx="18093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$10B by 2030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3618" y="885527"/>
            <a:ext cx="3972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UNIVERSAL WIN THEMES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3618" y="1126778"/>
            <a:ext cx="3894832" cy="479227"/>
          </a:xfrm>
          <a:prstGeom prst="roundRect">
            <a:avLst>
              <a:gd name="adj" fmla="val 15901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46018" y="1215628"/>
            <a:ext cx="23317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01568" y="1215628"/>
            <a:ext cx="3299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Machines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01568" y="1383804"/>
            <a:ext cx="32991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cloud — works on your VPS, VM, or servers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3618" y="1707505"/>
            <a:ext cx="3894832" cy="479227"/>
          </a:xfrm>
          <a:prstGeom prst="roundRect">
            <a:avLst>
              <a:gd name="adj" fmla="val 15901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46018" y="1796355"/>
            <a:ext cx="23317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01568" y="1796355"/>
            <a:ext cx="3299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Claude Code-Native Fleet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01568" y="1964531"/>
            <a:ext cx="32991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is Claude-blind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3618" y="2288232"/>
            <a:ext cx="3894832" cy="479227"/>
          </a:xfrm>
          <a:prstGeom prst="roundRect">
            <a:avLst>
              <a:gd name="adj" fmla="val 15901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46018" y="2377083"/>
            <a:ext cx="23317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01568" y="2377083"/>
            <a:ext cx="3299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Datadog Analogy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01568" y="2545259"/>
            <a:ext cx="32991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management for AI agents, not monitoring agents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3618" y="2868960"/>
            <a:ext cx="3894832" cy="479227"/>
          </a:xfrm>
          <a:prstGeom prst="roundRect">
            <a:avLst>
              <a:gd name="adj" fmla="val 15901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46018" y="2957810"/>
            <a:ext cx="23317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01568" y="2957810"/>
            <a:ext cx="3299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by Design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01568" y="3125986"/>
            <a:ext cx="32991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binary + dashboard. No Terraform, no DevOps team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3618" y="3449687"/>
            <a:ext cx="3894832" cy="612577"/>
          </a:xfrm>
          <a:prstGeom prst="roundRect">
            <a:avLst>
              <a:gd name="adj" fmla="val 1243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46018" y="3538538"/>
            <a:ext cx="23317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01568" y="3538538"/>
            <a:ext cx="3299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Loop Clarity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01568" y="3706713"/>
            <a:ext cx="329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= inner loop (what Claude thinks). Us = outer loop (is it alive)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3618" y="4163764"/>
            <a:ext cx="3894832" cy="612577"/>
          </a:xfrm>
          <a:prstGeom prst="roundRect">
            <a:avLst>
              <a:gd name="adj" fmla="val 1243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46018" y="4252615"/>
            <a:ext cx="23317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01568" y="4252615"/>
            <a:ext cx="3299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01568" y="4420791"/>
            <a:ext cx="32991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stays on your machines — not 1Code's or Codespaces' cloud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062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11101"/>
            <a:ext cx="91440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52400"/>
            <a:ext cx="86015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— At a Glance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5550" y="415826"/>
            <a:ext cx="8601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competitors researched · 8 categories · February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2501"/>
            <a:ext cx="91440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44512"/>
            <a:ext cx="1186309" cy="183952"/>
          </a:xfrm>
          <a:prstGeom prst="roundRect">
            <a:avLst>
              <a:gd name="adj" fmla="val 27616"/>
            </a:avLst>
          </a:prstGeom>
          <a:solidFill>
            <a:srgbClr val="DC2626">
              <a:alpha val="20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576" y="179338"/>
            <a:ext cx="983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CARD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4259" y="126950"/>
            <a:ext cx="587332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claudecodeui / opcode / claude-code-ui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04820" y="169813"/>
            <a:ext cx="12073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LEVEL: 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901" y="618976"/>
            <a:ext cx="4229249" cy="2316212"/>
          </a:xfrm>
          <a:prstGeom prst="roundRect">
            <a:avLst>
              <a:gd name="adj" fmla="val 329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502" y="720477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GAPS (THEIR WEAKNESS)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93502" y="9870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claudecodeui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10903" y="980629"/>
            <a:ext cx="2889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machine only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fleet view. Great mobile UX, zero multi-machine support.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502" y="1482030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opcode / Claudia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10903" y="1475631"/>
            <a:ext cx="2889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 only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browser-accessible from a remote device or another machine.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3502" y="1977033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claude-code-ui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10903" y="1970633"/>
            <a:ext cx="2889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only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can't reach remote machines at all. Kanban for one machine.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3502" y="2364135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3502" y="2509986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10903" y="2503587"/>
            <a:ext cx="2889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CPU/memory monitoring, no SSH key management, no multi-machine aggregation.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3901" y="3036689"/>
            <a:ext cx="4229249" cy="1057721"/>
          </a:xfrm>
          <a:prstGeom prst="roundRect">
            <a:avLst>
              <a:gd name="adj" fmla="val 720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53901" y="3041452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78387" y="3036689"/>
            <a:ext cx="0" cy="105772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3901" y="4089648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951" y="3036689"/>
            <a:ext cx="0" cy="10577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602" y="3147715"/>
            <a:ext cx="3980471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"claudecodeui is great if you want to access </a:t>
            </a:r>
            <a:pPr algn="l" indent="0" marL="0">
              <a:lnSpc>
                <a:spcPts val="1318"/>
              </a:lnSpc>
              <a:buNone/>
            </a:pPr>
            <a:r>
              <a:rPr lang="en-US" sz="850" b="1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machine's Claude Code from mobile. SessionForge is what you need when you have Claude Code running on three servers and you want one browser tab showing all of them — which sessions are active, which machines are under load, restart anything that crashed."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0850" y="618976"/>
            <a:ext cx="4229249" cy="2979986"/>
          </a:xfrm>
          <a:prstGeom prst="roundRect">
            <a:avLst>
              <a:gd name="adj" fmla="val 2557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0451" y="720477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00451" y="974378"/>
            <a:ext cx="18816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"claudecodeui is free and does what I need"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721376" y="974378"/>
            <a:ext cx="20697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one machine, yes. The moment you add a second machine, you need SessionForge's fleet view. Our free tier covers your first machine at zero cost.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0451" y="1564779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451" y="1748730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"opcode is really polished"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21376" y="1748730"/>
            <a:ext cx="20697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opcode is a great desktop app — if you're always at your local machine. SessionForge works from any browser on any machine you own.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0451" y="2339132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451" y="2523083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need to monitor resources"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21376" y="2523083"/>
            <a:ext cx="2069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the first time a runaway Claude session saturates a server at 3am and you're not there to catch it.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00451" y="3008709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451" y="3192661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 just SSH in"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21376" y="3192661"/>
            <a:ext cx="2069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one machine, yes. For a fleet, you want a dashboard.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60850" y="3700463"/>
            <a:ext cx="4229249" cy="600075"/>
          </a:xfrm>
          <a:prstGeom prst="roundRect">
            <a:avLst>
              <a:gd name="adj" fmla="val 8466"/>
            </a:avLst>
          </a:prstGeom>
          <a:solidFill>
            <a:srgbClr val="D97706">
              <a:alpha val="13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97326" y="3786188"/>
            <a:ext cx="40354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Landmine: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dismiss these tools — respect the OSS community. Position on fleet scale, not feature features. Acknowledge their polish (especially opcode). Win on multi-machine and remote-access dimensions.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2501"/>
            <a:ext cx="91440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44512"/>
            <a:ext cx="1186309" cy="183952"/>
          </a:xfrm>
          <a:prstGeom prst="roundRect">
            <a:avLst>
              <a:gd name="adj" fmla="val 27616"/>
            </a:avLst>
          </a:prstGeom>
          <a:solidFill>
            <a:srgbClr val="DC2626">
              <a:alpha val="20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576" y="179338"/>
            <a:ext cx="983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CARD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4259" y="126950"/>
            <a:ext cx="587332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1Code (21st.dev · YC-backed)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04820" y="169813"/>
            <a:ext cx="12073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LEVEL: 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901" y="618976"/>
            <a:ext cx="4229249" cy="1328738"/>
          </a:xfrm>
          <a:prstGeom prst="roundRect">
            <a:avLst>
              <a:gd name="adj" fmla="val 5735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502" y="755452"/>
            <a:ext cx="1623120" cy="139601"/>
          </a:xfrm>
          <a:prstGeom prst="roundRect">
            <a:avLst>
              <a:gd name="adj" fmla="val 36389"/>
            </a:avLst>
          </a:prstGeom>
          <a:solidFill>
            <a:srgbClr val="F58922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9227" y="777627"/>
            <a:ext cx="1480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YC WINTER 2025 · WELL-FUNDED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93502" y="945803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WIN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93502" y="1104454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agent side-by-side view — genuinely compelling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502" y="1289893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competitor with proper CI/CD integration for Claude Code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3502" y="1475333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+ Slack integrations — workflow native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93502" y="1660773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to spin up Claude Code with a single POST call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3901" y="2049214"/>
            <a:ext cx="4229249" cy="1250752"/>
          </a:xfrm>
          <a:prstGeom prst="roundRect">
            <a:avLst>
              <a:gd name="adj" fmla="val 6092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3502" y="2150715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CRITICAL GAP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3502" y="2309366"/>
            <a:ext cx="4029048" cy="2946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1Code runs Claude Code in their sandboxes — not on your machines.</a:t>
            </a:r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CPU/memory monitoring of real infra.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3502" y="2642146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SSH key management for your own servers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3502" y="2827586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code, configs, environments live in their cloud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3502" y="3013025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unknown — likely expensive at scale (VC-funded burn rate)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3901" y="3401467"/>
            <a:ext cx="4229249" cy="1640532"/>
          </a:xfrm>
          <a:prstGeom prst="roundRect">
            <a:avLst>
              <a:gd name="adj" fmla="val 464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53901" y="3406229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78387" y="3401467"/>
            <a:ext cx="0" cy="164053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3901" y="5037237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2951" y="3401467"/>
            <a:ext cx="0" cy="164053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602" y="3512493"/>
            <a:ext cx="3980471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"1Code is impressive for managed sandboxes. SessionForge is the answer when you need Claude Code on </a:t>
            </a:r>
            <a:pPr algn="l" indent="0" marL="0">
              <a:lnSpc>
                <a:spcPts val="1318"/>
              </a:lnSpc>
              <a:buNone/>
            </a:pPr>
            <a:r>
              <a:rPr lang="en-US" sz="850" b="1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machines</a:t>
            </a:r>
            <a:pPr algn="l"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your VPS, your cloud VMs — with full visibility and control. Your code stays on your infrastructure."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0850" y="618976"/>
            <a:ext cx="4229249" cy="4423023"/>
          </a:xfrm>
          <a:prstGeom prst="roundRect">
            <a:avLst>
              <a:gd name="adj" fmla="val 1802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451" y="720477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00451" y="974378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"1Code's CI/CD automation is unique"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21376" y="974378"/>
            <a:ext cx="20697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— CI/CD is powerful. SessionForge is the operational layer: monitoring and managing sessions on your machines. These complement each other.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0451" y="1577578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451" y="1774329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"They have YC backing"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21376" y="1774329"/>
            <a:ext cx="2069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the tool that works with your existing infrastructure. You don't need VC-funded sandboxes if you already have the machines.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00451" y="2272754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451" y="2469505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"Their API is clean"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21376" y="2469505"/>
            <a:ext cx="2069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agent API gives you the same programmatic control, on your own hardware, without a third-party cloud dependency.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0451" y="2967930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00451" y="3164681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want managed infrastructure"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21376" y="3164681"/>
            <a:ext cx="2069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1Code is a strong option. If you want control over your servers — where your data lives — SessionForge is the answer.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00451" y="3663107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00451" y="3859857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721376" y="3859857"/>
            <a:ext cx="2069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 + infrastructure ownership. Win on: your machines, your code, your control.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2501"/>
            <a:ext cx="91440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44512"/>
            <a:ext cx="1186309" cy="183952"/>
          </a:xfrm>
          <a:prstGeom prst="roundRect">
            <a:avLst>
              <a:gd name="adj" fmla="val 27616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576" y="179338"/>
            <a:ext cx="983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CARD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4259" y="126950"/>
            <a:ext cx="53617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Warp Terminal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03269" y="169813"/>
            <a:ext cx="17188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LEVEL: MEDIUM-HIGH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901" y="618976"/>
            <a:ext cx="4229249" cy="1103412"/>
          </a:xfrm>
          <a:prstGeom prst="roundRect">
            <a:avLst>
              <a:gd name="adj" fmla="val 6906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502" y="720477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WIN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93502" y="879128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advanced AI integration of any terminal (OpenAI, Anthropic, Google)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502" y="1064568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sharing to browser viewers — closest analogue to SessionForge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502" y="1250007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Slack/Linear/GitHub Actions integrations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502" y="1435447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"Live steering" of running agent sessions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3901" y="1823889"/>
            <a:ext cx="4229249" cy="1398091"/>
          </a:xfrm>
          <a:prstGeom prst="roundRect">
            <a:avLst>
              <a:gd name="adj" fmla="val 545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3502" y="1925389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CRITICAL GAP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93502" y="2084040"/>
            <a:ext cx="4029048" cy="2946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 first</a:t>
            </a:r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installed ON the machine, not a remote management dashboard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502" y="2416820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machine focus</a:t>
            </a:r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multi-machine fleet view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502" y="2602260"/>
            <a:ext cx="4029048" cy="29468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sharing is view-only for external viewers; management still requires being in Warp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3502" y="2935039"/>
            <a:ext cx="4029048" cy="14734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1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CPU/memory monitoring across machines, no SSH key management fleet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3901" y="3323481"/>
            <a:ext cx="4229249" cy="748903"/>
          </a:xfrm>
          <a:prstGeom prst="roundRect">
            <a:avLst>
              <a:gd name="adj" fmla="val 10175"/>
            </a:avLst>
          </a:prstGeom>
          <a:solidFill>
            <a:srgbClr val="06B6D4">
              <a:alpha val="13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3027" y="3434507"/>
            <a:ext cx="400961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DISTINCTION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03027" y="3618458"/>
            <a:ext cx="40096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"Warp is where you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SessionForge is how you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the fleet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work on."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0850" y="618976"/>
            <a:ext cx="4229249" cy="1057721"/>
          </a:xfrm>
          <a:prstGeom prst="roundRect">
            <a:avLst>
              <a:gd name="adj" fmla="val 720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0850" y="623739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85337" y="618976"/>
            <a:ext cx="0" cy="1057721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0850" y="1671935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79900" y="618976"/>
            <a:ext cx="0" cy="10577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8551" y="730002"/>
            <a:ext cx="3980471" cy="835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8"/>
              </a:lnSpc>
              <a:buNone/>
            </a:pPr>
            <a:r>
              <a:rPr lang="en-US" sz="85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"Warp is an amazing terminal for your local machine. SessionForge is what you open on your laptop to see what's happening across five remote servers running Claude Code — without installing anything locally. Open a browser tab, see all your machines, see all their sessions, monitor resources, restart crashed sessions."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0850" y="1778198"/>
            <a:ext cx="4229249" cy="3263801"/>
          </a:xfrm>
          <a:prstGeom prst="roundRect">
            <a:avLst>
              <a:gd name="adj" fmla="val 2335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451" y="1879699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00451" y="2133600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"Warp already does session sharing"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21376" y="2133600"/>
            <a:ext cx="20697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shares one terminal to viewers. SessionForge aggregates all machines and sessions into one management dashboard. Sharing vs. fleet management.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00451" y="2736800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451" y="2933551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"Warp has AI built in"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721376" y="2933551"/>
            <a:ext cx="20697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Warp's AI helps you in the terminal. SessionForge's focus is operational — is the session alive, is the machine healthy, can I restart it. Different jobs.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0451" y="3536752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451" y="3733502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like Warp for collaboration"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721376" y="3733502"/>
            <a:ext cx="20697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Warp for collaborative coding sessions. Use SessionForge for production fleet management of Claude Code agents.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0451" y="4231928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0451" y="4428679"/>
            <a:ext cx="1881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"Warp is free"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21376" y="4428679"/>
            <a:ext cx="20697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SessionForge has a free tier too. And it gives you fleet management that Warp doesn't.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2501"/>
            <a:ext cx="91440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44512"/>
            <a:ext cx="1503759" cy="183952"/>
          </a:xfrm>
          <a:prstGeom prst="roundRect">
            <a:avLst>
              <a:gd name="adj" fmla="val 27616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576" y="179338"/>
            <a:ext cx="13073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CARDS 4 &amp;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11710" y="126950"/>
            <a:ext cx="53682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GitHub Codespaces &amp; Coder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27119" y="169813"/>
            <a:ext cx="1388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LEVEL: MEDIUM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901" y="618976"/>
            <a:ext cx="4572149" cy="1072902"/>
          </a:xfrm>
          <a:prstGeom prst="roundRect">
            <a:avLst>
              <a:gd name="adj" fmla="val 7102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502" y="720477"/>
            <a:ext cx="4378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Codespaces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502" y="904577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owns the machine.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existing servers don't exist in Codespaces world.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3502" y="1076027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escalate fast — 4-core × 8hr/day ≈ $300/month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3502" y="1247477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GitHub lock-in — useless for GitLab, Bitbucket, Azure DevOps shops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3502" y="1418927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terminal I/O streaming to external dashboard, no fleet view, no SSH key mgmt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3901" y="1793379"/>
            <a:ext cx="4572149" cy="850553"/>
          </a:xfrm>
          <a:prstGeom prst="roundRect">
            <a:avLst>
              <a:gd name="adj" fmla="val 895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3901" y="1798141"/>
            <a:ext cx="45721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1287" y="1793379"/>
            <a:ext cx="0" cy="85055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901" y="2639169"/>
            <a:ext cx="45721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2951" y="1793379"/>
            <a:ext cx="0" cy="850553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602" y="1904405"/>
            <a:ext cx="433022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b="1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CODESPACES COUNTER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31602" y="2075706"/>
            <a:ext cx="43302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"Codespaces spins up GitHub's machines for you. SessionForge manages Claude Code on machines you already own. If you have a $6/month VPS running Claude Code, Codespaces has nothing to offer you."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901" y="2745432"/>
            <a:ext cx="4572149" cy="1072902"/>
          </a:xfrm>
          <a:prstGeom prst="roundRect">
            <a:avLst>
              <a:gd name="adj" fmla="val 7102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3502" y="2846933"/>
            <a:ext cx="4378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3502" y="3031034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DevOps team + Terraform expertise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deploy and maintain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3502" y="3202484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Workspace-centric, not session-centric — no concept of "Claude Code process running now"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3502" y="3373934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terminal I/O streaming, no CPU/memory monitoring per session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3502" y="3545384"/>
            <a:ext cx="4378806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Provisioning-heavy — overkill for "I have machines, I want to see what's running"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03750" y="618976"/>
            <a:ext cx="3886349" cy="1002953"/>
          </a:xfrm>
          <a:prstGeom prst="roundRect">
            <a:avLst>
              <a:gd name="adj" fmla="val 759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03750" y="623739"/>
            <a:ext cx="38863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85337" y="618976"/>
            <a:ext cx="0" cy="1002953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03750" y="1617166"/>
            <a:ext cx="38863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2800" y="618976"/>
            <a:ext cx="0" cy="1002953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1451" y="730002"/>
            <a:ext cx="363071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b="1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COUNTER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181451" y="901303"/>
            <a:ext cx="36307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"Coder is right if you're building a standardized dev environment platform from scratch with Terraform. SessionForge is right if you already have machines running Claude Code and need operational visibility today — no Terraform, no DevOps overhead. Install the agent binary, connect, done."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03750" y="1723430"/>
            <a:ext cx="3886349" cy="3318570"/>
          </a:xfrm>
          <a:prstGeom prst="roundRect">
            <a:avLst>
              <a:gd name="adj" fmla="val 2296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43351" y="1824930"/>
            <a:ext cx="36792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 — BOTH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43351" y="2072432"/>
            <a:ext cx="17150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all-in on GitHub ecosystem"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01011" y="2072432"/>
            <a:ext cx="18864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GitHub for your code. SessionForge manages where Claude Code runs — your infrastructure, not GitHub's.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43351" y="2523232"/>
            <a:ext cx="36071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43351" y="2700933"/>
            <a:ext cx="17150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"Coder is free and open source"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01011" y="2700933"/>
            <a:ext cx="18864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server still needs to run somewhere and be maintained. SessionForge free tier is just agent + dashboard, zero ops overhead.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143351" y="3151733"/>
            <a:ext cx="36071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143351" y="3329434"/>
            <a:ext cx="17150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"Coder has AI agent governance"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901011" y="3329434"/>
            <a:ext cx="18864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governs environments. SessionForge governs running sessions — live status, resource usage, start/stop. Different layers.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43351" y="3780234"/>
            <a:ext cx="36071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43351" y="3957935"/>
            <a:ext cx="17150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RBAC and audit logs"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01011" y="3957935"/>
            <a:ext cx="18864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and Enterprise plans include both. Coder Premium is custom/expensive for features SessionForge covers at $49/month.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2501"/>
            <a:ext cx="91440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44512"/>
            <a:ext cx="1503759" cy="183952"/>
          </a:xfrm>
          <a:prstGeom prst="roundRect">
            <a:avLst>
              <a:gd name="adj" fmla="val 27616"/>
            </a:avLst>
          </a:prstGeom>
          <a:solidFill>
            <a:srgbClr val="16A34A">
              <a:alpha val="13000"/>
            </a:srgbClr>
          </a:solidFill>
          <a:ln w="9525">
            <a:solidFill>
              <a:srgbClr val="16A3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576" y="179338"/>
            <a:ext cx="13073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CARDS 6 &amp;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11710" y="126950"/>
            <a:ext cx="41049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AgentOps / LangSmith &amp; Devin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88571" y="169813"/>
            <a:ext cx="26518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LEVEL: LOW · CO-SELL OPPORTUNITY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901" y="618976"/>
            <a:ext cx="4229249" cy="729555"/>
          </a:xfrm>
          <a:prstGeom prst="roundRect">
            <a:avLst>
              <a:gd name="adj" fmla="val 10445"/>
            </a:avLst>
          </a:prstGeom>
          <a:solidFill>
            <a:srgbClr val="22C55E">
              <a:alpha val="7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3027" y="730002"/>
            <a:ext cx="400961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CO-SELL OPPORTUNITY — AGENTOPS / LANGSMITH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3027" y="913954"/>
            <a:ext cx="4009617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observability tools that </a:t>
            </a:r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</a:t>
            </a:r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SessionForge — not compete. Position them as the inner loop to SessionForge's outer loop.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3901" y="1450032"/>
            <a:ext cx="4229249" cy="1278434"/>
          </a:xfrm>
          <a:prstGeom prst="roundRect">
            <a:avLst>
              <a:gd name="adj" fmla="val 596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3502" y="1551533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VS. OUTER LOOP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93502" y="1722983"/>
            <a:ext cx="1924199" cy="903982"/>
          </a:xfrm>
          <a:prstGeom prst="roundRect">
            <a:avLst>
              <a:gd name="adj" fmla="val 702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002" y="1799183"/>
            <a:ext cx="175562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LOOP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5002" y="1961555"/>
            <a:ext cx="175562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/ LangSmith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5002" y="2150715"/>
            <a:ext cx="17556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traces · Token costs · Decision chains · Prompt debugging · Time travel replay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19201" y="1722983"/>
            <a:ext cx="1924348" cy="903982"/>
          </a:xfrm>
          <a:prstGeom prst="roundRect">
            <a:avLst>
              <a:gd name="adj" fmla="val 702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20702" y="1799183"/>
            <a:ext cx="175577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LOOP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20702" y="1961555"/>
            <a:ext cx="1755773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SessionForge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20702" y="2150715"/>
            <a:ext cx="17557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status · Machine health · Terminal I/O · Session lifecycle · CPU/memory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3901" y="2829967"/>
            <a:ext cx="4229249" cy="679252"/>
          </a:xfrm>
          <a:prstGeom prst="roundRect">
            <a:avLst>
              <a:gd name="adj" fmla="val 1121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53901" y="2834729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8387" y="2829967"/>
            <a:ext cx="0" cy="67925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901" y="3504456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2951" y="2829967"/>
            <a:ext cx="0" cy="67925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602" y="2940993"/>
            <a:ext cx="3980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"AgentOps is the inner loop — what is Claude thinking, where did it fail? SessionForge is the outer loop — is the Claude process alive, can I restart it from my browser at 2am. Use both."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0850" y="618976"/>
            <a:ext cx="4229249" cy="1491853"/>
          </a:xfrm>
          <a:prstGeom prst="roundRect">
            <a:avLst>
              <a:gd name="adj" fmla="val 5108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0451" y="720477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(Cognition AI) — LOW Threat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451" y="90457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mature autonomous agent — Goldman Sachs validated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00451" y="107602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agent execution with admin controls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00451" y="1260128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00451" y="1323529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Cognition's cloud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zero infrastructure control for you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00451" y="1494979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Claude Code — completely different AI tool and workflow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00451" y="1666429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$500+/month for team use — expensive for Claude Code management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00451" y="1837879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system resources of machines running agents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60850" y="2212330"/>
            <a:ext cx="4229249" cy="2829669"/>
          </a:xfrm>
          <a:prstGeom prst="roundRect">
            <a:avLst>
              <a:gd name="adj" fmla="val 2693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451" y="2313831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00451" y="2561332"/>
            <a:ext cx="1881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already use AgentOps for monitoring"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721376" y="2561332"/>
            <a:ext cx="20697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AgentOps monitors what Claude decides. SessionForge monitors whether Claude is running. AgentOps doesn't let you restart a crashed session remotely.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00451" y="3107382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00451" y="3285083"/>
            <a:ext cx="18816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"Devin runs autonomously without supervision"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721376" y="3285083"/>
            <a:ext cx="20697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runs in their cloud. Claude Code on your machines with SessionForge monitoring it gives you supervised autonomy — you see what it's doing and can intervene.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00451" y="3831134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0451" y="4008834"/>
            <a:ext cx="1881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"Goldman Sachs uses Devin"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21376" y="4008834"/>
            <a:ext cx="20697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enterprise validation. SessionForge targets teams using Claude Code who need operational management, not teams replacing developers with autonomous agents.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82501"/>
            <a:ext cx="91440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44512"/>
            <a:ext cx="1572964" cy="183952"/>
          </a:xfrm>
          <a:prstGeom prst="roundRect">
            <a:avLst>
              <a:gd name="adj" fmla="val 27616"/>
            </a:avLst>
          </a:prstGeom>
          <a:solidFill>
            <a:srgbClr val="16A34A">
              <a:alpha val="13000"/>
            </a:srgbClr>
          </a:solidFill>
          <a:ln w="9525">
            <a:solidFill>
              <a:srgbClr val="16A3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576" y="179338"/>
            <a:ext cx="13779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CARDS 9 &amp; 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80915" y="126950"/>
            <a:ext cx="55048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tmate / ngrok &amp; TeamViewer / AnyDesk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30269" y="169813"/>
            <a:ext cx="1181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LEVEL: 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901" y="618976"/>
            <a:ext cx="4229249" cy="1244352"/>
          </a:xfrm>
          <a:prstGeom prst="roundRect">
            <a:avLst>
              <a:gd name="adj" fmla="val 6124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3502" y="720477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tmate / ngrok / ttyd — "Primitives"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502" y="90457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primitives, not products</a:t>
            </a:r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purely CLI, no dashboard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3502" y="107602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terminal at a time — no fleet management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3502" y="124747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ngrok: 2-hour session limit, 1 GB bandwidth, ephemeral URLs on free tier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3502" y="141892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session lifecycle management, no SSH key management, no audit logs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93502" y="159037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CPU/memory monitoring — just a pipe, not a platform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3901" y="1964829"/>
            <a:ext cx="4229249" cy="825252"/>
          </a:xfrm>
          <a:prstGeom prst="roundRect">
            <a:avLst>
              <a:gd name="adj" fmla="val 923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3901" y="1969591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78387" y="1964829"/>
            <a:ext cx="0" cy="82525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3901" y="2785318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951" y="1964829"/>
            <a:ext cx="0" cy="82525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602" y="2063204"/>
            <a:ext cx="398047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b="1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 COUNTER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1602" y="2234505"/>
            <a:ext cx="3980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"tmate answers 'how do I show someone my terminal right now.' SessionForge answers 'how do I manage all my Claude Code sessions across all my machines from a browser without SSHing into each one.' Primitives vs. fleet platform."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3901" y="2891582"/>
            <a:ext cx="4229249" cy="438150"/>
          </a:xfrm>
          <a:prstGeom prst="roundRect">
            <a:avLst>
              <a:gd name="adj" fmla="val 14493"/>
            </a:avLst>
          </a:prstGeom>
          <a:solidFill>
            <a:srgbClr val="22C55E">
              <a:alpha val="7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376" y="2977307"/>
            <a:ext cx="40354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ngrok can actually be a connectivity layer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SessionForge for machines behind NAT. Position as complementary, not competitive — we ride on ngrok where needed.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0850" y="618976"/>
            <a:ext cx="4229249" cy="1415802"/>
          </a:xfrm>
          <a:prstGeom prst="roundRect">
            <a:avLst>
              <a:gd name="adj" fmla="val 5382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0451" y="720477"/>
            <a:ext cx="4029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TeamViewer / AnyDesk / Parsec — "Wrong Shape"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451" y="90457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remote desktop is wrong for headless server + Claude Code management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451" y="107602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$25–230/month for functionality that doesn't match the problem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00451" y="124747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asset-centric fleet (device inventory, OS versions) — not developer session-centric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0451" y="141892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terminal I/O streaming, no Claude Code awareness, no session log capture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00451" y="159037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AnyDesk Oct 2025 license change creating customer confusion and frustration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00451" y="1761827"/>
            <a:ext cx="4029048" cy="1333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TeamViewer aggressively flags free accounts as commercial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0850" y="2136279"/>
            <a:ext cx="4229249" cy="825252"/>
          </a:xfrm>
          <a:prstGeom prst="roundRect">
            <a:avLst>
              <a:gd name="adj" fmla="val 923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60850" y="2141041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85337" y="2136279"/>
            <a:ext cx="0" cy="825252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0850" y="2956768"/>
            <a:ext cx="4229249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79900" y="2136279"/>
            <a:ext cx="0" cy="82525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8551" y="2234654"/>
            <a:ext cx="398047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b="1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DESKTOP COUNTER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38551" y="2405955"/>
            <a:ext cx="3980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"TeamViewer shows you a desktop. You don't need a desktop — you need Claude Code's terminal output, know if the process is alive, and hit restart when it crashes. It's like using a tow truck to move a bicycle."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0850" y="3063032"/>
            <a:ext cx="4229249" cy="1548854"/>
          </a:xfrm>
          <a:prstGeom prst="roundRect">
            <a:avLst>
              <a:gd name="adj" fmla="val 492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0451" y="3164532"/>
            <a:ext cx="4029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00451" y="3412034"/>
            <a:ext cx="18816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already rolled out TeamViewer company-wide"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721376" y="3412034"/>
            <a:ext cx="2069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TeamViewer for IT support. SessionForge is developer tooling — separate buying decision, different budget, different buyer.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00451" y="3862834"/>
            <a:ext cx="3950047" cy="1265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0451" y="4040535"/>
            <a:ext cx="1881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just SSH in when I need to check"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21376" y="4040535"/>
            <a:ext cx="20697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perfectly for one machine. SessionForge pays off the moment you have more than one. What's your time worth per SSH session × how many machines × how many days?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107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1551"/>
            <a:ext cx="91440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54037"/>
            <a:ext cx="1800225" cy="183952"/>
          </a:xfrm>
          <a:prstGeom prst="roundRect">
            <a:avLst>
              <a:gd name="adj" fmla="val 27616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026" y="188863"/>
            <a:ext cx="15578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OBJECTIONS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08175" y="126950"/>
            <a:ext cx="31557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Objection. Every Counter.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3901" y="885676"/>
            <a:ext cx="4229249" cy="444401"/>
          </a:xfrm>
          <a:prstGeom prst="roundRect">
            <a:avLst>
              <a:gd name="adj" fmla="val 1428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3901" y="885676"/>
            <a:ext cx="1896666" cy="44440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45804" y="885676"/>
            <a:ext cx="0" cy="444401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851" y="974527"/>
            <a:ext cx="1665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"We'll just SSH in to check"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277517" y="974527"/>
            <a:ext cx="2120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machine: fine. Three machines at 3am: use a dashboard. Time per SSH × machines × days.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3901" y="1406277"/>
            <a:ext cx="4229249" cy="577751"/>
          </a:xfrm>
          <a:prstGeom prst="roundRect">
            <a:avLst>
              <a:gd name="adj" fmla="val 10991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3901" y="1406277"/>
            <a:ext cx="1896666" cy="5777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45804" y="1406277"/>
            <a:ext cx="0" cy="577751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851" y="1495127"/>
            <a:ext cx="1665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handles this itself"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277517" y="1495127"/>
            <a:ext cx="21202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the agent. SessionForge manages the sessions it runs in — you wouldn't expect VS Code to manage your server fleet.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3901" y="2060228"/>
            <a:ext cx="4229249" cy="577751"/>
          </a:xfrm>
          <a:prstGeom prst="roundRect">
            <a:avLst>
              <a:gd name="adj" fmla="val 10991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3901" y="2060228"/>
            <a:ext cx="1896666" cy="5777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145804" y="2060228"/>
            <a:ext cx="0" cy="577751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851" y="2149078"/>
            <a:ext cx="1665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free tools do what we need"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77517" y="2149078"/>
            <a:ext cx="21202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free tier is also free. And it gives you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multi-machine fleet management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free tools don't have.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3901" y="2714179"/>
            <a:ext cx="4229249" cy="444401"/>
          </a:xfrm>
          <a:prstGeom prst="roundRect">
            <a:avLst>
              <a:gd name="adj" fmla="val 1428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3901" y="2714179"/>
            <a:ext cx="1896666" cy="44440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145804" y="2714179"/>
            <a:ext cx="0" cy="444401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851" y="2803029"/>
            <a:ext cx="1665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not ready to pay for tooling"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277517" y="2803029"/>
            <a:ext cx="2120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tier: 1 machine, 3 sessions, no credit card. Upgrade when you need more.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3901" y="3234779"/>
            <a:ext cx="4229249" cy="444401"/>
          </a:xfrm>
          <a:prstGeom prst="roundRect">
            <a:avLst>
              <a:gd name="adj" fmla="val 1428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53901" y="3234779"/>
            <a:ext cx="1896666" cy="44440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145804" y="3234779"/>
            <a:ext cx="0" cy="444401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851" y="3323630"/>
            <a:ext cx="1665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already use [X monitoring tool]"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77517" y="3323630"/>
            <a:ext cx="2120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[X] let you start/stop Claude Code sessions from a browser? No? That's the gap.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0850" y="885676"/>
            <a:ext cx="4229249" cy="711101"/>
          </a:xfrm>
          <a:prstGeom prst="roundRect">
            <a:avLst>
              <a:gd name="adj" fmla="val 893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60850" y="885676"/>
            <a:ext cx="1896666" cy="71110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552754" y="885676"/>
            <a:ext cx="0" cy="711101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7801" y="974527"/>
            <a:ext cx="1665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"We'll build this ourselves"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684466" y="974527"/>
            <a:ext cx="2120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 + terminal streaming + resource monitoring + SSH key management = months of engineering. SessionForge Pro is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$19/month.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0850" y="1672977"/>
            <a:ext cx="4229249" cy="577751"/>
          </a:xfrm>
          <a:prstGeom prst="roundRect">
            <a:avLst>
              <a:gd name="adj" fmla="val 10991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60850" y="1672977"/>
            <a:ext cx="1896666" cy="5777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552754" y="1672977"/>
            <a:ext cx="0" cy="577751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7801" y="1761827"/>
            <a:ext cx="1665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team is small, we manage fine"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684466" y="1761827"/>
            <a:ext cx="21202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SessionForge pays off at 2 machines. How many hours/month do you spend SSHing in to check on Claude?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60850" y="2352229"/>
            <a:ext cx="4229249" cy="863203"/>
          </a:xfrm>
          <a:prstGeom prst="roundRect">
            <a:avLst>
              <a:gd name="adj" fmla="val 8828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09976" y="2463254"/>
            <a:ext cx="400961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OBJECTION — HANDLE WITH CARE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09976" y="2647206"/>
            <a:ext cx="40096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want a third party on our machines" — </a:t>
            </a:r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SessionForge agent dials out from your machine. No inbound ports, no third-party SSH access, no code leaves your servers.</a:t>
            </a:r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infrastructure, your control, your data.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1076"/>
          </a:xfrm>
          <a:prstGeom prst="rect">
            <a:avLst/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1551"/>
            <a:ext cx="9144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5550" y="154037"/>
            <a:ext cx="629841" cy="183952"/>
          </a:xfrm>
          <a:prstGeom prst="roundRect">
            <a:avLst>
              <a:gd name="adj" fmla="val 27616"/>
            </a:avLst>
          </a:prstGeom>
          <a:solidFill>
            <a:srgbClr val="06B6D4">
              <a:alpha val="13000"/>
            </a:srgbClr>
          </a:solidFill>
          <a:ln w="9525">
            <a:solidFill>
              <a:srgbClr val="06B6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026" y="188863"/>
            <a:ext cx="3640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7791" y="126950"/>
            <a:ext cx="3688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 &amp; Watch List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3901" y="723751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8802" y="726877"/>
            <a:ext cx="5759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Closely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5856" y="723751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0758" y="726877"/>
            <a:ext cx="3023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749623" y="723751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14525" y="726877"/>
            <a:ext cx="569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(for now)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25179" y="723751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90081" y="726877"/>
            <a:ext cx="3980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Card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3901" y="1113979"/>
            <a:ext cx="4229249" cy="788789"/>
          </a:xfrm>
          <a:prstGeom prst="roundRect">
            <a:avLst>
              <a:gd name="adj" fmla="val 805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72951" y="1113979"/>
            <a:ext cx="0" cy="788789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951" y="1215479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1Code (21st.dev)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8951" y="1386929"/>
            <a:ext cx="401599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YC-backed, Claude Code-specific, moving fast.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to converge on SessionForge's exact space.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product releases monthly. Currently sandbox-centric — if they pivot to BYOM (bring your own machine), threat escalates to CRITICAL.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3901" y="2067669"/>
            <a:ext cx="4229249" cy="788789"/>
          </a:xfrm>
          <a:prstGeom prst="roundRect">
            <a:avLst>
              <a:gd name="adj" fmla="val 805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72951" y="2067669"/>
            <a:ext cx="0" cy="788789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951" y="2169170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Terminal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8951" y="2340620"/>
            <a:ext cx="401599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AI and fleet features aggressively. Session sharing already close.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remote machine management features.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they add multi-machine fleet dashboarding, threat escalates to HIGH.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3901" y="3021360"/>
            <a:ext cx="4229249" cy="650677"/>
          </a:xfrm>
          <a:prstGeom prst="roundRect">
            <a:avLst>
              <a:gd name="adj" fmla="val 975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72951" y="3021360"/>
            <a:ext cx="0" cy="650677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8951" y="3122861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claudecodeui / siteboon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8951" y="3294311"/>
            <a:ext cx="40159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open-source community. Currently single-machine.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GitHub for multi-machine support PRs.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they add fleet view, becomes a serious free competitor.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3901" y="3836938"/>
            <a:ext cx="4229249" cy="650677"/>
          </a:xfrm>
          <a:prstGeom prst="roundRect">
            <a:avLst>
              <a:gd name="adj" fmla="val 975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72951" y="3836938"/>
            <a:ext cx="0" cy="650677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951" y="3938439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8951" y="4109889"/>
            <a:ext cx="40159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marketing "AI agent governance." Could expand into Claude Code-specific session management.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their dev blog for agent management feature announcements.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0850" y="638026"/>
            <a:ext cx="4229249" cy="788789"/>
          </a:xfrm>
          <a:prstGeom prst="roundRect">
            <a:avLst>
              <a:gd name="adj" fmla="val 8050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79900" y="638026"/>
            <a:ext cx="0" cy="788789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5901" y="739527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5901" y="910977"/>
            <a:ext cx="401599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Claude Code analytics dashboard (July 2025) for software teams. </a:t>
            </a:r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Anthropic builds first-party session management, this changes everything.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anthropic.com/news and Claude Code release notes. Existential risk if they go there.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60850" y="1591717"/>
            <a:ext cx="4229249" cy="650677"/>
          </a:xfrm>
          <a:prstGeom prst="roundRect">
            <a:avLst>
              <a:gd name="adj" fmla="val 975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79900" y="1591717"/>
            <a:ext cx="0" cy="650677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5901" y="1693218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Desktop Tools (TeamViewer, AnyDesk)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5901" y="1864668"/>
            <a:ext cx="40159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far from developer workflows to pivot meaningfully.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AnyDesk license change causing customer churn — possible opportunity.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60850" y="2407295"/>
            <a:ext cx="4229249" cy="650677"/>
          </a:xfrm>
          <a:prstGeom prst="roundRect">
            <a:avLst>
              <a:gd name="adj" fmla="val 9759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679900" y="2407295"/>
            <a:ext cx="0" cy="650677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5901" y="2508796"/>
            <a:ext cx="40159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Observability (LangSmith, Langfuse, Helicone)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5901" y="2680246"/>
            <a:ext cx="40159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layer — co-sell opportunity, not competition.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None building toward outer-loop process management.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60850" y="3222873"/>
            <a:ext cx="4229249" cy="1484858"/>
          </a:xfrm>
          <a:prstGeom prst="roundRect">
            <a:avLst>
              <a:gd name="adj" fmla="val 513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9976" y="3333899"/>
            <a:ext cx="4009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CADENCE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09976" y="3594050"/>
            <a:ext cx="1274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1Code, Warp, claudecodeui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351788" y="3594050"/>
            <a:ext cx="396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9976" y="3962102"/>
            <a:ext cx="15775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product announcements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92864" y="3962102"/>
            <a:ext cx="3550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09976" y="4330154"/>
            <a:ext cx="9440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competitors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89429" y="4330154"/>
            <a:ext cx="4605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" y="5105400"/>
            <a:ext cx="90678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36886"/>
            <a:ext cx="4207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58701" y="1303586"/>
            <a:ext cx="4207115" cy="759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</a:t>
            </a:r>
            <a:pPr algn="l" indent="0" marL="0">
              <a:lnSpc>
                <a:spcPts val="2990"/>
              </a:lnSpc>
              <a:buNone/>
            </a:pPr>
            <a:endParaRPr lang="en-US" sz="26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Machine.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58701" y="2266057"/>
            <a:ext cx="507950" cy="25301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2494508"/>
            <a:ext cx="420711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browser-based fleet management dashboard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Claude Code.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Monitor, control, and manage AI coding sessions across all your remote machines from one place.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8701" y="3255913"/>
            <a:ext cx="1283791" cy="850702"/>
          </a:xfrm>
          <a:prstGeom prst="roundRect">
            <a:avLst>
              <a:gd name="adj" fmla="val 11943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01311" y="3382863"/>
            <a:ext cx="9985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1311" y="3516213"/>
            <a:ext cx="998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1311" y="3770114"/>
            <a:ext cx="9985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machine · 3 sessions</a:t>
            </a:r>
            <a:endParaRPr lang="en-US" sz="7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69443" y="3255913"/>
            <a:ext cx="1302990" cy="850702"/>
          </a:xfrm>
          <a:prstGeom prst="roundRect">
            <a:avLst>
              <a:gd name="adj" fmla="val 1194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21576" y="3392388"/>
            <a:ext cx="998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21576" y="3525738"/>
            <a:ext cx="9987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21576" y="3779639"/>
            <a:ext cx="9987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machines</a:t>
            </a:r>
            <a:endParaRPr lang="en-US" sz="7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key management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99383" y="3255913"/>
            <a:ext cx="1283940" cy="850702"/>
          </a:xfrm>
          <a:prstGeom prst="roundRect">
            <a:avLst>
              <a:gd name="adj" fmla="val 11943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41992" y="3382863"/>
            <a:ext cx="9987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41992" y="3516213"/>
            <a:ext cx="9987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pPr algn="ctr" indent="0" marL="0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41992" y="3770114"/>
            <a:ext cx="9987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Audit logs</a:t>
            </a:r>
            <a:endParaRPr lang="en-US" sz="7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88123" y="365671"/>
            <a:ext cx="3749576" cy="682526"/>
          </a:xfrm>
          <a:prstGeom prst="roundRect">
            <a:avLst>
              <a:gd name="adj" fmla="val 9304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15074" y="606921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19725" y="592634"/>
            <a:ext cx="3254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machines.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on the VPS, VMs, and servers you already own.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88123" y="1111597"/>
            <a:ext cx="3749576" cy="682526"/>
          </a:xfrm>
          <a:prstGeom prst="roundRect">
            <a:avLst>
              <a:gd name="adj" fmla="val 9304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15074" y="1352848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19725" y="1395710"/>
            <a:ext cx="32548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Code-native.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competitor is Claude-blind. We're not.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88123" y="1857524"/>
            <a:ext cx="3749576" cy="682526"/>
          </a:xfrm>
          <a:prstGeom prst="roundRect">
            <a:avLst>
              <a:gd name="adj" fmla="val 9304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15074" y="2098774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9725" y="2084487"/>
            <a:ext cx="3254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for AI agents.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Fleet management for Claude Code, not monitoring agents.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88123" y="2603450"/>
            <a:ext cx="3749576" cy="682526"/>
          </a:xfrm>
          <a:prstGeom prst="roundRect">
            <a:avLst>
              <a:gd name="adj" fmla="val 9304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15074" y="2844701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19725" y="2830413"/>
            <a:ext cx="3254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by design.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binary + dashboard. No Terraform, no DevOps team.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88123" y="3349377"/>
            <a:ext cx="3749576" cy="682526"/>
          </a:xfrm>
          <a:prstGeom prst="roundRect">
            <a:avLst>
              <a:gd name="adj" fmla="val 9304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15074" y="3590627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19725" y="3576340"/>
            <a:ext cx="3254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loop clarity.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AgentOps = what Claude thinks. SessionForge = is it alive.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88123" y="4095304"/>
            <a:ext cx="3749576" cy="682526"/>
          </a:xfrm>
          <a:prstGeom prst="roundRect">
            <a:avLst>
              <a:gd name="adj" fmla="val 9304"/>
            </a:avLst>
          </a:prstGeom>
          <a:solidFill>
            <a:srgbClr val="161B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15074" y="4336554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19725" y="4322266"/>
            <a:ext cx="3254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sovereignty.</a:t>
            </a:r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stays on your machines. Not 1Code's or Codespaces' cloud.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2026-02-18T21:31:32Z</dcterms:created>
  <dcterms:modified xsi:type="dcterms:W3CDTF">2026-02-18T21:31:32Z</dcterms:modified>
</cp:coreProperties>
</file>